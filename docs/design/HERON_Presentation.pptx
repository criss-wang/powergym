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07"/>
    <p:restoredTop sz="94699"/>
  </p:normalViewPr>
  <p:slideViewPr>
    <p:cSldViewPr snapToGrid="0" snapToObjects="1">
      <p:cViewPr varScale="1">
        <p:scale>
          <a:sx n="210" d="100"/>
          <a:sy n="210" d="100"/>
        </p:scale>
        <p:origin x="401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HERON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Calibri"/>
              </a:defRPr>
            </a:pPr>
            <a:r>
              <a:rPr dirty="0"/>
              <a:t>Hierarchical Event-driven Reinforcement-learning Orchestration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566160"/>
            <a:ext cx="4876495" cy="127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rPr dirty="0"/>
              <a:t>Agent-Paced Event-Driven Execution for Multi-Agent RL in Cyber-Physical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NeurIPS 2026 Datasets &amp; Benchmarks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The Problem: Simulation-to-Deployment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CCCCC"/>
                </a:solidFill>
                <a:latin typeface="Calibri"/>
              </a:defRPr>
            </a:pPr>
            <a:r>
              <a:rPr dirty="0"/>
              <a:t>Existing </a:t>
            </a:r>
            <a:r>
              <a:rPr lang="en-US" dirty="0"/>
              <a:t>post-training simulations often </a:t>
            </a:r>
            <a:r>
              <a:rPr dirty="0"/>
              <a:t>assume synchronous, fully-observable environments.</a:t>
            </a:r>
            <a:br>
              <a:rPr dirty="0"/>
            </a:br>
            <a:r>
              <a:rPr dirty="0"/>
              <a:t>Real </a:t>
            </a:r>
            <a:r>
              <a:rPr lang="en-US" dirty="0"/>
              <a:t>CPS scenarios often don’t follow this assumption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62511" y="2041042"/>
            <a:ext cx="3179357" cy="3384794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40862" y="167528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Calibri"/>
              </a:defRPr>
            </a:pPr>
            <a:r>
              <a:rPr dirty="0"/>
              <a:t>1. Execution Mismatch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3805" y="2192438"/>
            <a:ext cx="3108960" cy="1238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FF4545"/>
                </a:solidFill>
                <a:latin typeface="Calibri"/>
              </a:rPr>
              <a:t>▸ 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U</a:t>
            </a:r>
            <a:r>
              <a:rPr sz="1300" dirty="0">
                <a:solidFill>
                  <a:srgbClr val="CCCCCC"/>
                </a:solidFill>
                <a:latin typeface="Calibri"/>
              </a:rPr>
              <a:t>se lock-step step()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FF4545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All agents act simultaneously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300" dirty="0">
                <a:solidFill>
                  <a:srgbClr val="FF4545"/>
                </a:solidFill>
                <a:latin typeface="Calibri"/>
              </a:rPr>
              <a:t>▸</a:t>
            </a:r>
            <a:r>
              <a:rPr lang="en-US" sz="1300" dirty="0">
                <a:solidFill>
                  <a:srgbClr val="CCCCCC"/>
                </a:solidFill>
              </a:rPr>
              <a:t> Action/Info delays ignored</a:t>
            </a:r>
            <a:endParaRPr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FF4545"/>
                </a:solidFill>
                <a:latin typeface="Calibri"/>
              </a:rPr>
              <a:t>▸</a:t>
            </a:r>
            <a:r>
              <a:rPr lang="en-US" sz="1300" dirty="0">
                <a:solidFill>
                  <a:srgbClr val="CCCCCC"/>
                </a:solidFill>
              </a:rPr>
              <a:t> Heavily env-centric -&gt; Hard to customize</a:t>
            </a:r>
            <a:endParaRPr sz="1300" dirty="0">
              <a:solidFill>
                <a:srgbClr val="CCCCCC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73709" y="2041042"/>
            <a:ext cx="3285777" cy="3384794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73709" y="1678508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rPr dirty="0"/>
              <a:t>2. Information </a:t>
            </a:r>
            <a:r>
              <a:rPr lang="en-US" dirty="0"/>
              <a:t>Mismatch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160009" y="2192438"/>
            <a:ext cx="310896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FF8C00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Global state accessible to all agents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FF8C00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No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/hard-to-implement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visibility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 control</a:t>
            </a:r>
            <a:endParaRPr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FF8C00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Agents 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cannot control who to communicate with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300" dirty="0">
                <a:solidFill>
                  <a:srgbClr val="FF8C00"/>
                </a:solidFill>
                <a:latin typeface="Calibri"/>
              </a:rPr>
              <a:t>▸ 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Immediate info -&gt; nothing is ”obsolete”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6134" y="2041042"/>
            <a:ext cx="3044153" cy="3384794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91327" y="1675282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CFF"/>
                </a:solidFill>
                <a:latin typeface="Calibri"/>
              </a:defRPr>
            </a:pPr>
            <a:r>
              <a:rPr dirty="0"/>
              <a:t>3. </a:t>
            </a:r>
            <a:r>
              <a:rPr lang="en-US" dirty="0"/>
              <a:t>Cumbersome</a:t>
            </a:r>
            <a:r>
              <a:rPr dirty="0"/>
              <a:t> Coordination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75634" y="2214550"/>
            <a:ext cx="310896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A85C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Coordination baked into env code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A85C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Can't swap protocols without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 fully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rewrite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 simulation pattern</a:t>
            </a:r>
            <a:endParaRPr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A85C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No hierarchical control support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A85C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No protocol-level experimentation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4545"/>
                </a:solidFill>
                <a:latin typeface="Calibri"/>
              </a:defRPr>
            </a:pPr>
            <a:r>
              <a:rPr dirty="0"/>
              <a:t>Result: Policies trained in simulation fail in deployment due to unrealistic assumptions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015850D-05F0-B756-A66E-8AB3498B9E80}"/>
              </a:ext>
            </a:extLst>
          </p:cNvPr>
          <p:cNvCxnSpPr>
            <a:cxnSpLocks/>
          </p:cNvCxnSpPr>
          <p:nvPr/>
        </p:nvCxnSpPr>
        <p:spPr>
          <a:xfrm>
            <a:off x="1714659" y="3733439"/>
            <a:ext cx="2628135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1C08BB5-91BD-AC73-4354-577B2C89CC1D}"/>
              </a:ext>
            </a:extLst>
          </p:cNvPr>
          <p:cNvSpPr txBox="1"/>
          <p:nvPr/>
        </p:nvSpPr>
        <p:spPr>
          <a:xfrm>
            <a:off x="116570" y="2535495"/>
            <a:ext cx="12851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Popular Framework</a:t>
            </a:r>
          </a:p>
          <a:p>
            <a:r>
              <a:rPr lang="en-US" dirty="0">
                <a:solidFill>
                  <a:schemeClr val="bg1"/>
                </a:solidFill>
              </a:rPr>
              <a:t>For CPS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BE6DFC-2D7E-ED7B-BF02-4D7C60F56639}"/>
              </a:ext>
            </a:extLst>
          </p:cNvPr>
          <p:cNvSpPr txBox="1"/>
          <p:nvPr/>
        </p:nvSpPr>
        <p:spPr>
          <a:xfrm>
            <a:off x="116570" y="4144478"/>
            <a:ext cx="16698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Real CPS</a:t>
            </a:r>
          </a:p>
          <a:p>
            <a:r>
              <a:rPr lang="en-US" dirty="0">
                <a:solidFill>
                  <a:schemeClr val="bg1"/>
                </a:solidFill>
              </a:rPr>
              <a:t>Simulation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Requirements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2BA606-9FB5-C658-B96D-CADC4EB39DE5}"/>
              </a:ext>
            </a:extLst>
          </p:cNvPr>
          <p:cNvSpPr txBox="1"/>
          <p:nvPr/>
        </p:nvSpPr>
        <p:spPr>
          <a:xfrm>
            <a:off x="1643805" y="3908180"/>
            <a:ext cx="2939402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FF4545"/>
                </a:solidFill>
                <a:latin typeface="Calibri"/>
              </a:rPr>
              <a:t>▸ 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Varying execution cycle (event-driven)</a:t>
            </a:r>
            <a:endParaRPr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FF4545"/>
                </a:solidFill>
                <a:latin typeface="Calibri"/>
              </a:rPr>
              <a:t>▸ 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Hierarchical control &amp; communication</a:t>
            </a:r>
            <a:endParaRPr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FF4545"/>
                </a:solidFill>
                <a:latin typeface="Calibri"/>
              </a:rPr>
              <a:t>▸ 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Agents can be </a:t>
            </a:r>
            <a:r>
              <a:rPr lang="en-US" sz="1300" dirty="0" err="1">
                <a:solidFill>
                  <a:srgbClr val="CCCCCC"/>
                </a:solidFill>
                <a:latin typeface="Calibri"/>
              </a:rPr>
              <a:t>indept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. from </a:t>
            </a:r>
            <a:r>
              <a:rPr lang="en-US" sz="1300" dirty="0" err="1">
                <a:solidFill>
                  <a:srgbClr val="CCCCCC"/>
                </a:solidFill>
                <a:latin typeface="Calibri"/>
              </a:rPr>
              <a:t>envs</a:t>
            </a:r>
            <a:endParaRPr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FF4545"/>
                </a:solidFill>
                <a:latin typeface="Calibri"/>
              </a:rPr>
              <a:t>▸ 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D</a:t>
            </a:r>
            <a:r>
              <a:rPr sz="1300" dirty="0">
                <a:solidFill>
                  <a:srgbClr val="CCCCCC"/>
                </a:solidFill>
                <a:latin typeface="Calibri"/>
              </a:rPr>
              <a:t>elays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 in action execution &amp; info sharing</a:t>
            </a:r>
            <a:endParaRPr sz="1300" dirty="0">
              <a:solidFill>
                <a:srgbClr val="CCCCCC"/>
              </a:solidFill>
              <a:latin typeface="Calibri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2CFEFF7-ED50-7E39-89D0-D4FC66724059}"/>
              </a:ext>
            </a:extLst>
          </p:cNvPr>
          <p:cNvCxnSpPr>
            <a:cxnSpLocks/>
          </p:cNvCxnSpPr>
          <p:nvPr/>
        </p:nvCxnSpPr>
        <p:spPr>
          <a:xfrm>
            <a:off x="5312712" y="3731564"/>
            <a:ext cx="2628135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9B2966E-3025-4697-0FE1-E1A7599DE89F}"/>
              </a:ext>
            </a:extLst>
          </p:cNvPr>
          <p:cNvSpPr txBox="1"/>
          <p:nvPr/>
        </p:nvSpPr>
        <p:spPr>
          <a:xfrm>
            <a:off x="5167990" y="3908180"/>
            <a:ext cx="310896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FF8C00"/>
                </a:solidFill>
                <a:latin typeface="Calibri"/>
              </a:rPr>
              <a:t>▸ 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Agents </a:t>
            </a:r>
            <a:r>
              <a:rPr lang="en-US" sz="1300" dirty="0">
                <a:solidFill>
                  <a:srgbClr val="CCCCCC"/>
                </a:solidFill>
              </a:rPr>
              <a:t>may have ”obsolete”  info</a:t>
            </a:r>
            <a:endParaRPr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FF8C00"/>
                </a:solidFill>
                <a:latin typeface="Calibri"/>
              </a:rPr>
              <a:t>▸ 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State update may fail to factor in actions not yet in-effect</a:t>
            </a:r>
            <a:endParaRPr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FF8C00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Agents 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decide info outlet themselves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300" dirty="0">
                <a:solidFill>
                  <a:srgbClr val="FF8C00"/>
                </a:solidFill>
                <a:latin typeface="Calibri"/>
              </a:rPr>
              <a:t>▸ 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Simulation only care about overall info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4EB1867-33DB-7026-C600-ABFA6F1B3EAE}"/>
              </a:ext>
            </a:extLst>
          </p:cNvPr>
          <p:cNvCxnSpPr>
            <a:cxnSpLocks/>
          </p:cNvCxnSpPr>
          <p:nvPr/>
        </p:nvCxnSpPr>
        <p:spPr>
          <a:xfrm>
            <a:off x="9014920" y="3731564"/>
            <a:ext cx="2628135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317B75F-B2FF-40BB-51B6-070097E1DFC9}"/>
              </a:ext>
            </a:extLst>
          </p:cNvPr>
          <p:cNvSpPr txBox="1"/>
          <p:nvPr/>
        </p:nvSpPr>
        <p:spPr>
          <a:xfrm>
            <a:off x="8875634" y="3943917"/>
            <a:ext cx="310896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A85CFF"/>
                </a:solidFill>
                <a:latin typeface="Calibri"/>
              </a:rPr>
              <a:t>▸ 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Plugin-and-play protocol</a:t>
            </a:r>
            <a:endParaRPr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A85CFF"/>
                </a:solidFill>
                <a:latin typeface="Calibri"/>
              </a:rPr>
              <a:t>▸ 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H</a:t>
            </a:r>
            <a:r>
              <a:rPr sz="1300" dirty="0">
                <a:solidFill>
                  <a:srgbClr val="CCCCCC"/>
                </a:solidFill>
                <a:latin typeface="Calibri"/>
              </a:rPr>
              <a:t>ierarchical control support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A85CFF"/>
                </a:solidFill>
                <a:latin typeface="Calibri"/>
              </a:rPr>
              <a:t>▸ 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Action + Communication coordination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protocol</a:t>
            </a:r>
            <a:endParaRPr lang="en-US"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300" dirty="0">
                <a:solidFill>
                  <a:srgbClr val="A85CFF"/>
                </a:solidFill>
              </a:rPr>
              <a:t>▸</a:t>
            </a:r>
            <a:r>
              <a:rPr lang="en-US" sz="1300" dirty="0">
                <a:solidFill>
                  <a:srgbClr val="CCCCCC"/>
                </a:solidFill>
              </a:rPr>
              <a:t> Vertical &amp; Horizontal protocols</a:t>
            </a:r>
            <a:endParaRPr sz="1300" dirty="0">
              <a:solidFill>
                <a:srgbClr val="CCCCC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E676"/>
                </a:solidFill>
                <a:latin typeface="Calibri"/>
              </a:defRPr>
            </a:pPr>
            <a:r>
              <a:t>"HERON shifts MARL simulation from environment-centric synchronous stepping</a:t>
            </a:r>
            <a:br/>
            <a:r>
              <a:t>to agent-paced event-driven execution, making execution model, information</a:t>
            </a:r>
            <a:br/>
            <a:r>
              <a:t>structure, and coordination protocols first-class experimental variables."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6032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Dimension 1: Execution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31089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Sync CTDE mode for RL training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 (remain the same)</a:t>
            </a:r>
            <a:endParaRPr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Event-driven mode for testing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Per-agent tick rates &amp; delays</a:t>
            </a:r>
            <a:r>
              <a:rPr lang="en-US" sz="1300" dirty="0">
                <a:solidFill>
                  <a:srgbClr val="CCCCCC"/>
                </a:solidFill>
              </a:rPr>
              <a:t> with Configurable jitter</a:t>
            </a:r>
            <a:endParaRPr sz="1300" dirty="0">
              <a:solidFill>
                <a:srgbClr val="CCCCCC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80560" y="256032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Dimension 2: Information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383280"/>
            <a:ext cx="3108960" cy="1638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Multi</a:t>
            </a:r>
            <a:r>
              <a:rPr sz="1300" dirty="0">
                <a:solidFill>
                  <a:srgbClr val="CCCCCC"/>
                </a:solidFill>
                <a:latin typeface="Calibri"/>
              </a:rPr>
              <a:t>-level 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feature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visibility</a:t>
            </a:r>
            <a:endParaRPr lang="en-US"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ProxyAgent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mediates ALL state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/observation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access</a:t>
            </a:r>
            <a:endParaRPr lang="en-US"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300" dirty="0">
                <a:solidFill>
                  <a:srgbClr val="00E676"/>
                </a:solidFill>
              </a:rPr>
              <a:t>▸</a:t>
            </a:r>
            <a:r>
              <a:rPr lang="en-US" sz="1300" dirty="0">
                <a:solidFill>
                  <a:srgbClr val="CCCCCC"/>
                </a:solidFill>
              </a:rPr>
              <a:t> </a:t>
            </a:r>
            <a:r>
              <a:rPr lang="en-US" sz="1300" dirty="0" err="1">
                <a:solidFill>
                  <a:srgbClr val="CCCCCC"/>
                </a:solidFill>
              </a:rPr>
              <a:t>MessageBroker</a:t>
            </a:r>
            <a:r>
              <a:rPr lang="en-US" sz="1300" dirty="0">
                <a:solidFill>
                  <a:srgbClr val="CCCCCC"/>
                </a:solidFill>
              </a:rPr>
              <a:t> to mimic real (potentially out-of-sync) communication</a:t>
            </a:r>
            <a:endParaRPr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Feature-level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 info sharing</a:t>
            </a:r>
            <a:endParaRPr sz="1300" dirty="0">
              <a:solidFill>
                <a:srgbClr val="CCCCCC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75320" y="256032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Dimension 3: Coordination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3383280"/>
            <a:ext cx="310896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FF8C00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Two-layer: Communication + Action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FF8C00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Vertical: 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Parent &lt;-&gt; Child</a:t>
            </a:r>
            <a:endParaRPr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FF8C00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Horizontal: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 Point-to-Point</a:t>
            </a:r>
            <a:endParaRPr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FF8C00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Swap protocols without agent changes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FF8C00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Compare protocols on same 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These three dimensions are orthogonal and independently configurable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HERON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Agent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2926080" cy="640080"/>
          </a:xfrm>
          <a:prstGeom prst="roundRect">
            <a:avLst>
              <a:gd name="adj" fmla="val 5000"/>
            </a:avLst>
          </a:prstGeom>
          <a:solidFill>
            <a:srgbClr val="8B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SystemAgent</a:t>
            </a:r>
            <a:r>
              <a:rPr dirty="0"/>
              <a:t> (L3)</a:t>
            </a:r>
            <a:br>
              <a:rPr dirty="0"/>
            </a:br>
            <a:r>
              <a:rPr dirty="0"/>
              <a:t>Global Coordination  |  tick: 300s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2286000"/>
            <a:ext cx="0" cy="27432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14400" y="2560320"/>
            <a:ext cx="2926080" cy="640080"/>
          </a:xfrm>
          <a:prstGeom prst="roundRect">
            <a:avLst>
              <a:gd name="adj" fmla="val 5000"/>
            </a:avLst>
          </a:prstGeom>
          <a:solidFill>
            <a:srgbClr val="8B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CoordinatorAgent (L2)</a:t>
            </a:r>
            <a:br/>
            <a:r>
              <a:t>Zone Management  |  tick: 60s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371600" y="3200400"/>
            <a:ext cx="274320" cy="27432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108960" y="3200400"/>
            <a:ext cx="274320" cy="27432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3474720"/>
            <a:ext cx="1828800" cy="640080"/>
          </a:xfrm>
          <a:prstGeom prst="roundRect">
            <a:avLst>
              <a:gd name="adj" fmla="val 5000"/>
            </a:avLst>
          </a:prstGeom>
          <a:solidFill>
            <a:srgbClr val="1B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FieldAgent (L1)</a:t>
            </a:r>
            <a:br/>
            <a:r>
              <a:t>tick: 1s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3474720"/>
            <a:ext cx="1828800" cy="640080"/>
          </a:xfrm>
          <a:prstGeom prst="roundRect">
            <a:avLst>
              <a:gd name="adj" fmla="val 5000"/>
            </a:avLst>
          </a:prstGeom>
          <a:solidFill>
            <a:srgbClr val="1B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60320" y="3520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FieldAgent (L1)</a:t>
            </a:r>
            <a:br/>
            <a:r>
              <a:t>tick: 1s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Core Components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645920"/>
            <a:ext cx="3200400" cy="731520"/>
          </a:xfrm>
          <a:prstGeom prst="roundRect">
            <a:avLst>
              <a:gd name="adj" fmla="val 5000"/>
            </a:avLst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6360" y="16916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ProxyAgent</a:t>
            </a:r>
            <a:br/>
            <a:r>
              <a:t>State Cache + Visibility Filter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560320"/>
            <a:ext cx="3200400" cy="731520"/>
          </a:xfrm>
          <a:prstGeom prst="roundRect">
            <a:avLst>
              <a:gd name="adj" fmla="val 5000"/>
            </a:avLst>
          </a:prstGeom>
          <a:solidFill>
            <a:srgbClr val="0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66360" y="26060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EventScheduler</a:t>
            </a:r>
            <a:br/>
            <a:r>
              <a:t>Heap-Based Priority Queue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3474720"/>
            <a:ext cx="3200400" cy="731520"/>
          </a:xfrm>
          <a:prstGeom prst="roundRect">
            <a:avLst>
              <a:gd name="adj" fmla="val 5000"/>
            </a:avLst>
          </a:prstGeom>
          <a:solidFill>
            <a:srgbClr val="4A2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66360" y="35204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MessageBroker</a:t>
            </a:r>
            <a:br/>
            <a:r>
              <a:t>Channel-Based Routing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4389120"/>
            <a:ext cx="3200400" cy="731520"/>
          </a:xfrm>
          <a:prstGeom prst="roundRect">
            <a:avLst>
              <a:gd name="adj" fmla="val 5000"/>
            </a:avLst>
          </a:prstGeom>
          <a:solidFill>
            <a:srgbClr val="6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66360" y="4434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Protocol System</a:t>
            </a:r>
            <a:br/>
            <a:r>
              <a:t>Communication + Action Composition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Calibri"/>
              </a:defRPr>
            </a:pPr>
            <a:r>
              <a:t>What's Built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1554480"/>
            <a:ext cx="32004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3-level agent hierarchy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ProxyAgent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with 4 visibility scopes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EventScheduler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(7 event types)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Dual modes: step() +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run_event_driven</a:t>
            </a:r>
            <a:r>
              <a:rPr sz="1300" dirty="0">
                <a:solidFill>
                  <a:srgbClr val="CCCCCC"/>
                </a:solidFill>
                <a:latin typeface="Calibri"/>
              </a:rPr>
              <a:t>()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InMemoryBroker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(6 message types)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VerticalProtocol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+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HorizontalProtocol</a:t>
            </a:r>
            <a:endParaRPr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lang="en-US" sz="1300" dirty="0">
                <a:solidFill>
                  <a:srgbClr val="CCCCCC"/>
                </a:solidFill>
                <a:latin typeface="Calibri"/>
              </a:rPr>
              <a:t>Case Studies…</a:t>
            </a:r>
            <a:endParaRPr sz="1300" dirty="0">
              <a:solidFill>
                <a:srgbClr val="CCCCC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ProxyAgent: The State Gatekeeper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ALL state access is mediated through a single point, preventing global state leaks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4114800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State Cache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94560"/>
            <a:ext cx="3840480" cy="64008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Calibri"/>
              </a:defRPr>
            </a:pPr>
            <a:r>
              <a:t>battery_1 (L1)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BatterySOC: 0.503, Capacity: 100.0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971800"/>
            <a:ext cx="3840480" cy="64008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Calibri"/>
              </a:defRPr>
            </a:pPr>
            <a:r>
              <a:t>battery_2 (L1)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BatterySOC: 0.498, Capacity: 100.0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749040"/>
            <a:ext cx="3840480" cy="64008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7947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coordinator_1 (L2)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690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ZoneLoad: 45.2, Aggregated: {...}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526280"/>
            <a:ext cx="3840480" cy="64008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5720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Calibri"/>
              </a:defRPr>
            </a:pPr>
            <a:r>
              <a:t>system_agent (L3)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GridFreq: 60.01, TotalLoad: 120.5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1828800"/>
            <a:ext cx="2743200" cy="3657600"/>
          </a:xfrm>
          <a:prstGeom prst="roundRect">
            <a:avLst>
              <a:gd name="adj" fmla="val 5000"/>
            </a:avLst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4068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45"/>
                </a:solidFill>
                <a:latin typeface="Calibri"/>
              </a:defRPr>
            </a:pPr>
            <a:r>
              <a:t>Visibility 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2286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state.observed_by(requestor_id, level)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40680" y="2834640"/>
            <a:ext cx="2468880" cy="50292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7840" y="28620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Calibri"/>
              </a:defRPr>
            </a:pPr>
            <a:r>
              <a:t>public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09067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All agents can see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0680" y="3429000"/>
            <a:ext cx="2468880" cy="50292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77840" y="34564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Calibri"/>
              </a:defRPr>
            </a:pPr>
            <a:r>
              <a:t>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68503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Only owning agent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40680" y="4023360"/>
            <a:ext cx="2468880" cy="50292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77840" y="40507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rPr dirty="0" err="1"/>
              <a:t>upper_level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5577840" y="427939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One level above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40680" y="4617720"/>
            <a:ext cx="2468880" cy="50292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77840" y="46451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CFF"/>
                </a:solidFill>
                <a:latin typeface="Calibri"/>
              </a:defRPr>
            </a:pPr>
            <a:r>
              <a:t>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487375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System-level (L3)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124018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Filtered Output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1697386"/>
            <a:ext cx="3383280" cy="2051654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0" y="183454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L1 Agent (battery_1) sees: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2200306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Own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BatterySOC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(public)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Own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InternalTemp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(owner)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battery_2's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BatterySOC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(public)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NOT: coordinator's private features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NOT: system-level grid data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03920" y="3937972"/>
            <a:ext cx="3383280" cy="1822747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0" y="4075133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Calibri"/>
              </a:defRPr>
            </a:pPr>
            <a:r>
              <a:t>L3 Agent (system) sees: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440893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>
                <a:solidFill>
                  <a:srgbClr val="FF4545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All public features from all agents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>
                <a:solidFill>
                  <a:srgbClr val="FF4545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System-level grid frequency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>
                <a:solidFill>
                  <a:srgbClr val="FF4545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NOT: owner-only features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>
                <a:solidFill>
                  <a:srgbClr val="FF4545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Full env_context (prices, profiles)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943600"/>
            <a:ext cx="11094415" cy="594360"/>
          </a:xfrm>
          <a:prstGeom prst="roundRect">
            <a:avLst>
              <a:gd name="adj" fmla="val 5000"/>
            </a:avLst>
          </a:prstGeom>
          <a:solidFill>
            <a:srgbClr val="0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59893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E676"/>
                </a:solidFill>
                <a:latin typeface="Calibri"/>
              </a:defRPr>
            </a:pPr>
            <a:r>
              <a:t>Key Insight: Visibility is an experimental variable, not an implementation detail. Researchers can ablate over visibility configurations to study information structure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Dual Execution Modes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79"/>
            <a:ext cx="5303520" cy="5424633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Mode A: CTDE Training (Synchronous)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493776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1.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env.step</a:t>
            </a:r>
            <a:r>
              <a:rPr sz="1300" dirty="0">
                <a:solidFill>
                  <a:srgbClr val="CCCCCC"/>
                </a:solidFill>
                <a:latin typeface="Calibri"/>
              </a:rPr>
              <a:t>(actions)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2. Pre-step hook (update load profiles)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3. State sync: all agents reconcile with proxy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4. Phase 1: Hierarchical action application</a:t>
            </a:r>
            <a:endParaRPr lang="en-US"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300" dirty="0">
                <a:solidFill>
                  <a:srgbClr val="CCCCCC"/>
                </a:solidFill>
                <a:latin typeface="Calibri"/>
              </a:rPr>
              <a:t>	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SystemAgent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→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CoordinatorAgent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→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FieldAgent</a:t>
            </a:r>
            <a:endParaRPr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5. Phase 2: Physics simulation (grid solver)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6. Phase 3: Observation collection (filtered)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7. Phase 4: Reward computation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8. Phase 5: Vectorize + return to RL algorithm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sz="1300" dirty="0">
              <a:solidFill>
                <a:srgbClr val="00D2FF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Properties: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 • Synchronous: all agents act in one call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 • Full central access via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ProxyAgent</a:t>
            </a:r>
            <a:endParaRPr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 • Observations auto-vectorized for RL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 • Compatible with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PettingZoo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ParallelEnv</a:t>
            </a:r>
            <a:endParaRPr sz="1300" dirty="0">
              <a:solidFill>
                <a:srgbClr val="CCCCCC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669280" cy="5424632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1887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Mode B: Event-Driven Testing (Async)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530352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1.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env.run_event_driven</a:t>
            </a:r>
            <a:r>
              <a:rPr sz="1300" dirty="0">
                <a:solidFill>
                  <a:srgbClr val="CCCCCC"/>
                </a:solidFill>
                <a:latin typeface="Calibri"/>
              </a:rPr>
              <a:t>(analyzer,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t_end</a:t>
            </a:r>
            <a:r>
              <a:rPr sz="1300" dirty="0">
                <a:solidFill>
                  <a:srgbClr val="CCCCCC"/>
                </a:solidFill>
                <a:latin typeface="Calibri"/>
              </a:rPr>
              <a:t>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2.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EventScheduler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processes priority queue: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300" dirty="0">
                <a:solidFill>
                  <a:srgbClr val="CCCCCC"/>
                </a:solidFill>
                <a:latin typeface="Calibri"/>
              </a:rPr>
              <a:t>	</a:t>
            </a:r>
            <a:r>
              <a:rPr sz="1300" dirty="0">
                <a:solidFill>
                  <a:srgbClr val="CCCCCC"/>
                </a:solidFill>
                <a:latin typeface="Calibri"/>
              </a:rPr>
              <a:t>AGENT_TICK →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agent.tick</a:t>
            </a:r>
            <a:r>
              <a:rPr sz="1300" dirty="0">
                <a:solidFill>
                  <a:srgbClr val="CCCCCC"/>
                </a:solidFill>
                <a:latin typeface="Calibri"/>
              </a:rPr>
              <a:t>()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300" dirty="0">
                <a:solidFill>
                  <a:srgbClr val="CCCCCC"/>
                </a:solidFill>
                <a:latin typeface="Calibri"/>
              </a:rPr>
              <a:t>	</a:t>
            </a:r>
            <a:r>
              <a:rPr sz="1300" dirty="0">
                <a:solidFill>
                  <a:srgbClr val="CCCCCC"/>
                </a:solidFill>
                <a:latin typeface="Calibri"/>
              </a:rPr>
              <a:t>MESSAGE_DELIVERY → async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obs</a:t>
            </a:r>
            <a:r>
              <a:rPr sz="1300" dirty="0">
                <a:solidFill>
                  <a:srgbClr val="CCCCCC"/>
                </a:solidFill>
                <a:latin typeface="Calibri"/>
              </a:rPr>
              <a:t>/state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300" dirty="0">
                <a:solidFill>
                  <a:srgbClr val="CCCCCC"/>
                </a:solidFill>
                <a:latin typeface="Calibri"/>
              </a:rPr>
              <a:t>	</a:t>
            </a:r>
            <a:r>
              <a:rPr sz="1300" dirty="0">
                <a:solidFill>
                  <a:srgbClr val="CCCCCC"/>
                </a:solidFill>
                <a:latin typeface="Calibri"/>
              </a:rPr>
              <a:t>ACTION_EFFECT → delayed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apply_action</a:t>
            </a:r>
            <a:r>
              <a:rPr sz="1300" dirty="0">
                <a:solidFill>
                  <a:srgbClr val="CCCCCC"/>
                </a:solidFill>
                <a:latin typeface="Calibri"/>
              </a:rPr>
              <a:t>()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300" dirty="0">
                <a:solidFill>
                  <a:srgbClr val="00E676"/>
                </a:solidFill>
                <a:latin typeface="Calibri"/>
              </a:rPr>
              <a:t>	</a:t>
            </a:r>
            <a:r>
              <a:rPr sz="1300" dirty="0">
                <a:solidFill>
                  <a:srgbClr val="CCCCCC"/>
                </a:solidFill>
                <a:latin typeface="Calibri"/>
              </a:rPr>
              <a:t>SIMULATION → physics update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3. Actions passed via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MessageBroker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channels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4. Parent-initiated reward cascade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5. Results collected via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EventAnalyzer</a:t>
            </a:r>
            <a:endParaRPr lang="en-US"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sz="1300" dirty="0">
              <a:solidFill>
                <a:srgbClr val="00E676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Properties: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 • Asynchronous: per-agent tick rates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 • Realistic delays (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obs</a:t>
            </a:r>
            <a:r>
              <a:rPr sz="1300" dirty="0">
                <a:solidFill>
                  <a:srgbClr val="CCCCCC"/>
                </a:solidFill>
                <a:latin typeface="Calibri"/>
              </a:rPr>
              <a:t>, act, msg)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 • Configurable jitter (Gaussian/Uniform)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 • CPS-calibrated (IEEE 2030 / NTCIP)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Event-Driven Execution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124712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68680" y="1554480"/>
            <a:ext cx="25400" cy="1828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t=0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554480"/>
            <a:ext cx="25400" cy="1828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t=msg_d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1554480"/>
            <a:ext cx="25400" cy="1828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3756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t=2×msg_d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554480"/>
            <a:ext cx="25400" cy="1828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t=coord_tick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1554480"/>
            <a:ext cx="25400" cy="1828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t=field_tick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554480"/>
            <a:ext cx="25400" cy="1828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t=field+act_d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72600" y="1554480"/>
            <a:ext cx="25400" cy="1828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t=wait_int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89920" y="1554480"/>
            <a:ext cx="25400" cy="1828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2416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t=reward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545"/>
                </a:solidFill>
                <a:latin typeface="Calibri"/>
              </a:defRPr>
            </a:pPr>
            <a:r>
              <a:t>SystemAgent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423160"/>
            <a:ext cx="11247120" cy="635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" y="3063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rPr dirty="0" err="1"/>
              <a:t>ProxyAgent</a:t>
            </a:r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457200" y="3337560"/>
            <a:ext cx="11247120" cy="635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" y="3977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rPr dirty="0" err="1"/>
              <a:t>CoordinatorAgent</a:t>
            </a:r>
            <a:endParaRPr dirty="0"/>
          </a:p>
        </p:txBody>
      </p:sp>
      <p:sp>
        <p:nvSpPr>
          <p:cNvPr id="26" name="Rectangle 25"/>
          <p:cNvSpPr/>
          <p:nvPr/>
        </p:nvSpPr>
        <p:spPr>
          <a:xfrm>
            <a:off x="457200" y="4251960"/>
            <a:ext cx="11247120" cy="635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rPr dirty="0" err="1"/>
              <a:t>FieldAgent</a:t>
            </a:r>
            <a:endParaRPr dirty="0"/>
          </a:p>
        </p:txBody>
      </p:sp>
      <p:sp>
        <p:nvSpPr>
          <p:cNvPr id="28" name="Rectangle 27"/>
          <p:cNvSpPr/>
          <p:nvPr/>
        </p:nvSpPr>
        <p:spPr>
          <a:xfrm>
            <a:off x="457200" y="5166360"/>
            <a:ext cx="11247120" cy="635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94360" y="2194560"/>
            <a:ext cx="1188720" cy="82296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2212848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4545"/>
                </a:solidFill>
                <a:latin typeface="Calibri"/>
              </a:defRPr>
            </a:pPr>
            <a:r>
              <a:t>TICK</a:t>
            </a:r>
            <a:br/>
            <a:r>
              <a:t>schedule subs</a:t>
            </a:r>
            <a:br/>
            <a:r>
              <a:t>send actions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1680" y="3108960"/>
            <a:ext cx="1188720" cy="82296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057400" y="3127248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D2FF"/>
                </a:solidFill>
                <a:latin typeface="Calibri"/>
              </a:defRPr>
            </a:pPr>
            <a:r>
              <a:t>MSG</a:t>
            </a:r>
            <a:br/>
            <a:r>
              <a:t>build obs</a:t>
            </a:r>
            <a:br/>
            <a:r>
              <a:t>+ local_state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2194560"/>
            <a:ext cx="1188720" cy="82296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74720" y="2212848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4545"/>
                </a:solidFill>
                <a:latin typeface="Calibri"/>
              </a:defRPr>
            </a:pPr>
            <a:r>
              <a:rPr dirty="0"/>
              <a:t>MSG</a:t>
            </a:r>
            <a:br>
              <a:rPr dirty="0"/>
            </a:br>
            <a:r>
              <a:rPr dirty="0" err="1"/>
              <a:t>recv</a:t>
            </a:r>
            <a:r>
              <a:rPr dirty="0"/>
              <a:t> </a:t>
            </a:r>
            <a:r>
              <a:rPr dirty="0" err="1"/>
              <a:t>obs</a:t>
            </a:r>
            <a:br>
              <a:rPr dirty="0"/>
            </a:br>
            <a:r>
              <a:rPr dirty="0" err="1"/>
              <a:t>compute_action</a:t>
            </a:r>
            <a:endParaRPr dirty="0"/>
          </a:p>
        </p:txBody>
      </p:sp>
      <p:sp>
        <p:nvSpPr>
          <p:cNvPr id="35" name="Rounded Rectangle 34"/>
          <p:cNvSpPr/>
          <p:nvPr/>
        </p:nvSpPr>
        <p:spPr>
          <a:xfrm>
            <a:off x="4846320" y="4023360"/>
            <a:ext cx="1188720" cy="82296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92040" y="4041648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8C00"/>
                </a:solidFill>
                <a:latin typeface="Calibri"/>
              </a:defRPr>
            </a:pPr>
            <a:r>
              <a:rPr dirty="0"/>
              <a:t>TICK</a:t>
            </a:r>
            <a:br>
              <a:rPr dirty="0"/>
            </a:br>
            <a:r>
              <a:rPr dirty="0" err="1"/>
              <a:t>recv</a:t>
            </a:r>
            <a:r>
              <a:rPr dirty="0"/>
              <a:t> upstream</a:t>
            </a:r>
            <a:br>
              <a:rPr dirty="0"/>
            </a:br>
            <a:r>
              <a:rPr dirty="0"/>
              <a:t>coordinate</a:t>
            </a:r>
            <a:br>
              <a:rPr dirty="0"/>
            </a:br>
            <a:r>
              <a:rPr dirty="0"/>
              <a:t>send to fields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937760"/>
            <a:ext cx="1188720" cy="82296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09360" y="4956048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E676"/>
                </a:solidFill>
                <a:latin typeface="Calibri"/>
              </a:defRPr>
            </a:pPr>
            <a:r>
              <a:t>TICK</a:t>
            </a:r>
            <a:br/>
            <a:r>
              <a:t>recv upstream</a:t>
            </a:r>
            <a:br/>
            <a:r>
              <a:t>set_action</a:t>
            </a:r>
            <a:br/>
            <a:r>
              <a:t>schedule effect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80960" y="4937760"/>
            <a:ext cx="1188720" cy="82296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26680" y="4956048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E676"/>
                </a:solidFill>
                <a:latin typeface="Calibri"/>
              </a:defRPr>
            </a:pPr>
            <a:r>
              <a:rPr dirty="0"/>
              <a:t>ACTION_EFFECT</a:t>
            </a:r>
            <a:br>
              <a:rPr dirty="0"/>
            </a:br>
            <a:r>
              <a:rPr dirty="0" err="1"/>
              <a:t>apply_action</a:t>
            </a:r>
            <a:br>
              <a:rPr dirty="0"/>
            </a:br>
            <a:r>
              <a:rPr dirty="0"/>
              <a:t>send state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98280" y="2194560"/>
            <a:ext cx="1188720" cy="82296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0" y="2212848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4545"/>
                </a:solidFill>
                <a:latin typeface="Calibri"/>
              </a:defRPr>
            </a:pPr>
            <a:r>
              <a:t>SIMULATION</a:t>
            </a:r>
            <a:br/>
            <a:r>
              <a:t>req global</a:t>
            </a:r>
            <a:br/>
            <a:r>
              <a:t>run physics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15600" y="4023360"/>
            <a:ext cx="1188720" cy="82296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561320" y="4041648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8C00"/>
                </a:solidFill>
                <a:latin typeface="Calibri"/>
              </a:defRPr>
            </a:pPr>
            <a:r>
              <a:t>REWARD</a:t>
            </a:r>
            <a:br/>
            <a:r>
              <a:t>parent cascade</a:t>
            </a:r>
            <a:br/>
            <a:r>
              <a:t>compute reward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6035040"/>
            <a:ext cx="11094415" cy="548640"/>
          </a:xfrm>
          <a:prstGeom prst="roundRect">
            <a:avLst>
              <a:gd name="adj" fmla="val 5000"/>
            </a:avLst>
          </a:prstGeom>
          <a:solidFill>
            <a:srgbClr val="0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6080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2FF"/>
                </a:solidFill>
                <a:latin typeface="Calibri"/>
              </a:defRPr>
            </a:pPr>
            <a:r>
              <a:t>Event priority at same timestamp: ACTION_EFFECT (0) &gt; SIMULATION (1) &gt; MESSAGE_DELIVERY (2)    |    Per-agent TickConfig: tick_interval, obs_delay, act_delay, msg_delay + jitter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Composable Protocol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Two-layer design: separate WHAT to communicate from HOW to coordinate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554480"/>
            <a:ext cx="9418320" cy="73152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5448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Calibri"/>
              </a:defRPr>
            </a:pPr>
            <a:r>
              <a:rPr dirty="0"/>
              <a:t>Protocol  =  </a:t>
            </a:r>
            <a:r>
              <a:rPr dirty="0" err="1"/>
              <a:t>CommunicationProtocol</a:t>
            </a:r>
            <a:r>
              <a:rPr dirty="0"/>
              <a:t>  +  </a:t>
            </a:r>
            <a:r>
              <a:rPr dirty="0" err="1"/>
              <a:t>ActionProtocol</a:t>
            </a:r>
            <a:br>
              <a:rPr dirty="0"/>
            </a:br>
            <a:r>
              <a:rPr dirty="0"/>
              <a:t>               (WHAT to share)               (HOW to coordinate)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rPr dirty="0"/>
              <a:t>Vertical Protocols (Top-Down)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4937760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VerticalProtocol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=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NoCommunication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+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VectorDecomposition</a:t>
            </a:r>
            <a:endParaRPr sz="1300" dirty="0">
              <a:solidFill>
                <a:srgbClr val="00D2FF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Parent decomposes joint action vector for subordinates: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SystemAgent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action [a1, a2, a3, a4]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300" dirty="0">
                <a:solidFill>
                  <a:srgbClr val="CCCCCC"/>
                </a:solidFill>
                <a:latin typeface="Calibri"/>
              </a:rPr>
              <a:t>	</a:t>
            </a:r>
            <a:r>
              <a:rPr sz="1300" dirty="0">
                <a:solidFill>
                  <a:srgbClr val="CCCCCC"/>
                </a:solidFill>
                <a:latin typeface="Calibri"/>
              </a:rPr>
              <a:t>→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CoordinatorAgent</a:t>
            </a:r>
            <a:r>
              <a:rPr sz="1300" dirty="0">
                <a:solidFill>
                  <a:srgbClr val="CCCCCC"/>
                </a:solidFill>
                <a:latin typeface="Calibri"/>
              </a:rPr>
              <a:t>: [a1, a2]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300" dirty="0">
                <a:solidFill>
                  <a:srgbClr val="CCCCCC"/>
                </a:solidFill>
                <a:latin typeface="Calibri"/>
              </a:rPr>
              <a:t>	</a:t>
            </a:r>
            <a:r>
              <a:rPr sz="1300" dirty="0">
                <a:solidFill>
                  <a:srgbClr val="CCCCCC"/>
                </a:solidFill>
                <a:latin typeface="Calibri"/>
              </a:rPr>
              <a:t>→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FieldAgent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1: [a3]  | 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FieldAgent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2: [a4]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sz="1300" dirty="0">
              <a:solidFill>
                <a:srgbClr val="00D2FF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Domain protocols (planned):</a:t>
            </a:r>
            <a:endParaRPr lang="en-US" sz="13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300" dirty="0">
                <a:solidFill>
                  <a:srgbClr val="CCCCCC"/>
                </a:solidFill>
                <a:latin typeface="Calibri"/>
              </a:rPr>
              <a:t>	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SetpointProtocol</a:t>
            </a:r>
            <a:r>
              <a:rPr sz="1300" dirty="0">
                <a:solidFill>
                  <a:srgbClr val="CCCCCC"/>
                </a:solidFill>
                <a:latin typeface="Calibri"/>
              </a:rPr>
              <a:t>: centralized dispatch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300" dirty="0">
                <a:solidFill>
                  <a:srgbClr val="CCCCCC"/>
                </a:solidFill>
                <a:latin typeface="Calibri"/>
              </a:rPr>
              <a:t>	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PriceSignalProtocol</a:t>
            </a:r>
            <a:r>
              <a:rPr sz="1300" dirty="0">
                <a:solidFill>
                  <a:srgbClr val="CCCCCC"/>
                </a:solidFill>
                <a:latin typeface="Calibri"/>
              </a:rPr>
              <a:t>: decentralized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6032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rPr dirty="0"/>
              <a:t>Horizontal Protocols (Peer-to-Peer)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63240"/>
            <a:ext cx="4937760" cy="250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HorizontalProtocol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=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StateShare</a:t>
            </a:r>
            <a:r>
              <a:rPr sz="1300" dirty="0">
                <a:solidFill>
                  <a:srgbClr val="CCCCCC"/>
                </a:solidFill>
                <a:latin typeface="Calibri"/>
              </a:rPr>
              <a:t> + 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NoActionCoordination</a:t>
            </a:r>
            <a:endParaRPr sz="1300" dirty="0">
              <a:solidFill>
                <a:srgbClr val="00E676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Peers share state and coordinate locally: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300" dirty="0">
                <a:solidFill>
                  <a:srgbClr val="CCCCCC"/>
                </a:solidFill>
                <a:latin typeface="Calibri"/>
              </a:rPr>
              <a:t>	1.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Agent A shares load info with Agent B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300" dirty="0">
                <a:solidFill>
                  <a:srgbClr val="CCCCCC"/>
                </a:solidFill>
                <a:latin typeface="Calibri"/>
              </a:rPr>
              <a:t>	2.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Both adjust independently based on shared info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sz="1300" dirty="0">
              <a:solidFill>
                <a:srgbClr val="00E676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CCCCCC"/>
                </a:solidFill>
                <a:latin typeface="Calibri"/>
              </a:rPr>
              <a:t>Domain protocols (planned):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300" dirty="0">
                <a:solidFill>
                  <a:srgbClr val="CCCCCC"/>
                </a:solidFill>
                <a:latin typeface="Calibri"/>
              </a:rPr>
              <a:t>	</a:t>
            </a:r>
            <a:r>
              <a:rPr sz="1300" dirty="0">
                <a:solidFill>
                  <a:srgbClr val="CCCCCC"/>
                </a:solidFill>
                <a:latin typeface="Calibri"/>
              </a:rPr>
              <a:t>P2PTradingProtocol: market clearing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300" dirty="0">
                <a:solidFill>
                  <a:srgbClr val="CCCCCC"/>
                </a:solidFill>
                <a:latin typeface="Calibri"/>
              </a:rPr>
              <a:t>	</a:t>
            </a:r>
            <a:r>
              <a:rPr sz="1300" dirty="0" err="1">
                <a:solidFill>
                  <a:srgbClr val="CCCCCC"/>
                </a:solidFill>
                <a:latin typeface="Calibri"/>
              </a:rPr>
              <a:t>ConsensusProtocol</a:t>
            </a:r>
            <a:r>
              <a:rPr sz="1300" dirty="0">
                <a:solidFill>
                  <a:srgbClr val="CCCCCC"/>
                </a:solidFill>
                <a:latin typeface="Calibri"/>
              </a:rPr>
              <a:t>: gossip-based averaging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217920"/>
            <a:ext cx="11094415" cy="457200"/>
          </a:xfrm>
          <a:prstGeom prst="roundRect">
            <a:avLst>
              <a:gd name="adj" fmla="val 5000"/>
            </a:avLst>
          </a:prstGeom>
          <a:solidFill>
            <a:srgbClr val="3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6245352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8C00"/>
                </a:solidFill>
                <a:latin typeface="Calibri"/>
              </a:defRPr>
            </a:pPr>
            <a:r>
              <a:t>Swap protocols at experiment time — no agent code changes needed. Compare centralized dispatch vs. market-based coordination on the same grid.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Flow: Type Transformations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Serialization only at message boundaries — zero overhead in CTDE training mode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Calibri"/>
              </a:defRPr>
            </a:pPr>
            <a:r>
              <a:t>Agent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Rich Objects:</a:t>
            </a:r>
            <a:br/>
            <a:r>
              <a:t>State, Action, Observation</a:t>
            </a:r>
            <a:br/>
            <a:r>
              <a:t>FeatureProvider instances</a:t>
            </a:r>
            <a:br/>
            <a:r>
              <a:t>Dict[str, FeatureProvider]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64592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Calibri"/>
              </a:defRPr>
            </a:pPr>
            <a:r>
              <a:t>Proxy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1031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Object Storage:</a:t>
            </a:r>
            <a:br/>
            <a:r>
              <a:t>Stores State objects directly</a:t>
            </a:r>
            <a:br/>
            <a:r>
              <a:t>observed_by() → filtered</a:t>
            </a:r>
            <a:br/>
            <a:r>
              <a:t>Dict[str, np.ndarray]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64592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Calibri"/>
              </a:defRPr>
            </a:pPr>
            <a:r>
              <a:t>Message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1031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Serialized:</a:t>
            </a:r>
            <a:br/>
            <a:r>
              <a:t>state.to_dict() / from_dict()</a:t>
            </a:r>
            <a:br/>
            <a:r>
              <a:t>obs.to_dict() / from_dict()</a:t>
            </a:r>
            <a:br/>
            <a:r>
              <a:t>Action in payload dict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64592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2396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85CFF"/>
                </a:solidFill>
                <a:latin typeface="Calibri"/>
              </a:defRPr>
            </a:pPr>
            <a:r>
              <a:t>RL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1031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Vectors:</a:t>
            </a:r>
            <a:br/>
            <a:r>
              <a:t>obs.vector() / __array__()</a:t>
            </a:r>
            <a:br/>
            <a:r>
              <a:t>np.ndarray for neural nets</a:t>
            </a:r>
            <a:br/>
            <a:r>
              <a:t>reward: float scalar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Serialization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>
                <a:solidFill>
                  <a:srgbClr val="00D2FF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Agent → Proxy (CTDE): direct object reference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>
                <a:solidFill>
                  <a:srgbClr val="00D2FF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Agent → Proxy (Event): .to_dict() → message → .from_dict()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>
                <a:solidFill>
                  <a:srgbClr val="00D2FF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Proxy → Agent: state.observed_by() → filtered vectors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>
                <a:solidFill>
                  <a:srgbClr val="00D2FF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Observation → Policy: __array__() auto-converts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5720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>
                <a:solidFill>
                  <a:srgbClr val="00E676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Action → Broker: Action object in payload dict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>
                <a:solidFill>
                  <a:srgbClr val="00E676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Broker → Agent: msg.payload['action']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>
                <a:solidFill>
                  <a:srgbClr val="00E676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Obs response: bundles obs + local_state together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>
                <a:solidFill>
                  <a:srgbClr val="00E676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State sync: sync_state_from_observed() reconciles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HERON vs. Existing Frameworks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417320" cy="594360"/>
          </a:xfrm>
          <a:prstGeom prst="roundRect">
            <a:avLst>
              <a:gd name="adj" fmla="val 5000"/>
            </a:avLst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Calibri"/>
              </a:defRPr>
            </a:pPr>
            <a:r>
              <a:t>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188720"/>
            <a:ext cx="1325880" cy="594360"/>
          </a:xfrm>
          <a:prstGeom prst="roundRect">
            <a:avLst>
              <a:gd name="adj" fmla="val 5000"/>
            </a:avLst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40280" y="123444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Calibri"/>
              </a:defRPr>
            </a:pPr>
            <a:r>
              <a:t>Abstraction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188720"/>
            <a:ext cx="1234440" cy="594360"/>
          </a:xfrm>
          <a:prstGeom prst="roundRect">
            <a:avLst>
              <a:gd name="adj" fmla="val 5000"/>
            </a:avLst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123444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Calibri"/>
              </a:defRPr>
            </a:pPr>
            <a:r>
              <a:t>Event-Driven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188720"/>
            <a:ext cx="1143000" cy="594360"/>
          </a:xfrm>
          <a:prstGeom prst="roundRect">
            <a:avLst>
              <a:gd name="adj" fmla="val 5000"/>
            </a:avLst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92040" y="1234440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Calibri"/>
              </a:defRPr>
            </a:pPr>
            <a:r>
              <a:t>Visibility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188720"/>
            <a:ext cx="1325880" cy="594360"/>
          </a:xfrm>
          <a:prstGeom prst="roundRect">
            <a:avLst>
              <a:gd name="adj" fmla="val 5000"/>
            </a:avLst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60" y="123444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Calibri"/>
              </a:defRPr>
            </a:pPr>
            <a:r>
              <a:t>Protocols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188720"/>
            <a:ext cx="1325880" cy="594360"/>
          </a:xfrm>
          <a:prstGeom prst="roundRect">
            <a:avLst>
              <a:gd name="adj" fmla="val 5000"/>
            </a:avLst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52360" y="123444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Calibri"/>
              </a:defRPr>
            </a:pPr>
            <a:r>
              <a:t>State</a:t>
            </a:r>
            <a:br/>
            <a:r>
              <a:t>Mediation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1188720"/>
            <a:ext cx="960120" cy="594360"/>
          </a:xfrm>
          <a:prstGeom prst="roundRect">
            <a:avLst>
              <a:gd name="adj" fmla="val 5000"/>
            </a:avLst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23960" y="1234440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Calibri"/>
              </a:defRPr>
            </a:pPr>
            <a:r>
              <a:t>CPS</a:t>
            </a:r>
            <a:br/>
            <a:r>
              <a:t>Focus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1783080"/>
            <a:ext cx="1417320" cy="475488"/>
          </a:xfrm>
          <a:prstGeom prst="roundRect">
            <a:avLst>
              <a:gd name="adj" fmla="val 5000"/>
            </a:avLst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Calibri"/>
              </a:defRPr>
            </a:pPr>
            <a:r>
              <a:t>HERON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1783080"/>
            <a:ext cx="1325880" cy="475488"/>
          </a:xfrm>
          <a:prstGeom prst="roundRect">
            <a:avLst>
              <a:gd name="adj" fmla="val 5000"/>
            </a:avLst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40280" y="182880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Calibri"/>
              </a:defRPr>
            </a:pPr>
            <a:r>
              <a:t>Internal env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1783080"/>
            <a:ext cx="1234440" cy="475488"/>
          </a:xfrm>
          <a:prstGeom prst="roundRect">
            <a:avLst>
              <a:gd name="adj" fmla="val 5000"/>
            </a:avLst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11880" y="182880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Calibri"/>
              </a:defRPr>
            </a:pPr>
            <a:r>
              <a:t>Native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783080"/>
            <a:ext cx="1143000" cy="475488"/>
          </a:xfrm>
          <a:prstGeom prst="roundRect">
            <a:avLst>
              <a:gd name="adj" fmla="val 5000"/>
            </a:avLst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92040" y="182880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Calibri"/>
              </a:defRPr>
            </a:pPr>
            <a:r>
              <a:t>4-level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1783080"/>
            <a:ext cx="1325880" cy="475488"/>
          </a:xfrm>
          <a:prstGeom prst="roundRect">
            <a:avLst>
              <a:gd name="adj" fmla="val 5000"/>
            </a:avLst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80760" y="182880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Calibri"/>
              </a:defRPr>
            </a:pPr>
            <a:r>
              <a:t>Composable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1783080"/>
            <a:ext cx="1325880" cy="475488"/>
          </a:xfrm>
          <a:prstGeom prst="roundRect">
            <a:avLst>
              <a:gd name="adj" fmla="val 5000"/>
            </a:avLst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52360" y="182880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Calibri"/>
              </a:defRPr>
            </a:pPr>
            <a:r>
              <a:t>ProxyAgent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78240" y="1783080"/>
            <a:ext cx="960120" cy="475488"/>
          </a:xfrm>
          <a:prstGeom prst="roundRect">
            <a:avLst>
              <a:gd name="adj" fmla="val 5000"/>
            </a:avLst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23960" y="182880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2286000"/>
            <a:ext cx="1417320" cy="475488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233172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PettingZoo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0" y="2286000"/>
            <a:ext cx="1325880" cy="475488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240280" y="233172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Env-algo 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66160" y="2286000"/>
            <a:ext cx="1234440" cy="475488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11880" y="233172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0" y="2286000"/>
            <a:ext cx="1143000" cy="475488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92040" y="233172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8C00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2286000"/>
            <a:ext cx="1325880" cy="475488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80760" y="233172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06640" y="2286000"/>
            <a:ext cx="1325880" cy="475488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52360" y="233172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78240" y="2286000"/>
            <a:ext cx="960120" cy="475488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23960" y="233172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2788920"/>
            <a:ext cx="1417320" cy="475488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7240" y="28346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EPyMARL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94560" y="2788920"/>
            <a:ext cx="1325880" cy="475488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40280" y="28346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Algorithm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66160" y="2788920"/>
            <a:ext cx="1234440" cy="475488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611880" y="283464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846320" y="2788920"/>
            <a:ext cx="1143000" cy="475488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892040" y="283464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35040" y="2788920"/>
            <a:ext cx="1325880" cy="475488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080760" y="28346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06640" y="2788920"/>
            <a:ext cx="1325880" cy="475488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452360" y="28346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78240" y="2788920"/>
            <a:ext cx="960120" cy="475488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23960" y="283464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3291840"/>
            <a:ext cx="1417320" cy="475488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77240" y="33375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MARLlib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194560" y="3291840"/>
            <a:ext cx="1325880" cy="475488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240280" y="333756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Algorithm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566160" y="3291840"/>
            <a:ext cx="1234440" cy="475488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611880" y="333756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846320" y="3291840"/>
            <a:ext cx="1143000" cy="475488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892040" y="333756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035040" y="3291840"/>
            <a:ext cx="1325880" cy="475488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080760" y="333756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06640" y="3291840"/>
            <a:ext cx="1325880" cy="475488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452360" y="333756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778240" y="3291840"/>
            <a:ext cx="960120" cy="475488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823960" y="333756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94760"/>
            <a:ext cx="1417320" cy="475488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77240" y="384048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SMAC/v2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194560" y="3794760"/>
            <a:ext cx="1325880" cy="475488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240280" y="384048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Domain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566160" y="3794760"/>
            <a:ext cx="1234440" cy="475488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611880" y="384048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846320" y="3794760"/>
            <a:ext cx="1143000" cy="475488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892040" y="384048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8C00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035040" y="3794760"/>
            <a:ext cx="1325880" cy="475488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080760" y="384048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406640" y="3794760"/>
            <a:ext cx="1325880" cy="475488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52360" y="384048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778240" y="3794760"/>
            <a:ext cx="960120" cy="475488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823960" y="384048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31520" y="4297680"/>
            <a:ext cx="1417320" cy="475488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77240" y="434340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Grid2Op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194560" y="4297680"/>
            <a:ext cx="1325880" cy="475488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240280" y="434340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Power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566160" y="4297680"/>
            <a:ext cx="1234440" cy="475488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611880" y="434340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846320" y="4297680"/>
            <a:ext cx="1143000" cy="475488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892040" y="434340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035040" y="4297680"/>
            <a:ext cx="1325880" cy="475488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080760" y="434340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406640" y="4297680"/>
            <a:ext cx="1325880" cy="475488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452360" y="434340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778240" y="4297680"/>
            <a:ext cx="960120" cy="475488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823960" y="434340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31520" y="4800600"/>
            <a:ext cx="1417320" cy="475488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777240" y="484632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CityLearn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194560" y="4800600"/>
            <a:ext cx="1325880" cy="475488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240280" y="484632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Building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566160" y="4800600"/>
            <a:ext cx="1234440" cy="475488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611880" y="484632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846320" y="4800600"/>
            <a:ext cx="1143000" cy="475488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4892040" y="484632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8C00"/>
                </a:solidFill>
                <a:latin typeface="Calibri"/>
              </a:defRPr>
            </a:pPr>
            <a:r>
              <a:t>Binary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035040" y="4800600"/>
            <a:ext cx="1325880" cy="475488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080760" y="484632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406640" y="4800600"/>
            <a:ext cx="1325880" cy="475488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452360" y="484632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778240" y="4800600"/>
            <a:ext cx="960120" cy="475488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823960" y="484632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48640" y="5351967"/>
            <a:ext cx="11094415" cy="118872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22960" y="5443407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Key Differentiator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22960" y="57607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PettingZoo</a:t>
            </a:r>
            <a:r>
              <a:rPr dirty="0"/>
              <a:t> standardizes the </a:t>
            </a:r>
            <a:r>
              <a:rPr dirty="0" err="1"/>
              <a:t>env↔algorithm</a:t>
            </a:r>
            <a:r>
              <a:rPr dirty="0"/>
              <a:t> interface (reset, step, observe, act).</a:t>
            </a:r>
            <a:br>
              <a:rPr dirty="0"/>
            </a:br>
            <a:r>
              <a:rPr dirty="0"/>
              <a:t>HERON standardizes what happens INSIDE the environment (state access, communication, coordination).</a:t>
            </a:r>
            <a:br>
              <a:rPr dirty="0"/>
            </a:br>
            <a:r>
              <a:rPr dirty="0"/>
              <a:t>These are complementary — HERON </a:t>
            </a:r>
            <a:r>
              <a:rPr dirty="0" err="1"/>
              <a:t>envs</a:t>
            </a:r>
            <a:r>
              <a:rPr dirty="0"/>
              <a:t> can export to </a:t>
            </a:r>
            <a:r>
              <a:rPr dirty="0" err="1"/>
              <a:t>PettingZoo</a:t>
            </a:r>
            <a:r>
              <a:rPr dirty="0"/>
              <a:t> API.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Five Key Contributions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rPr dirty="0"/>
              <a:t>Event-Driven Hierarchical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Dual modes (sync training + event-driven validation) via heap-based </a:t>
            </a:r>
            <a:r>
              <a:rPr dirty="0" err="1"/>
              <a:t>EventScheduler</a:t>
            </a:r>
            <a:r>
              <a:rPr dirty="0"/>
              <a:t>.</a:t>
            </a:r>
            <a:br>
              <a:rPr dirty="0"/>
            </a:br>
            <a:r>
              <a:rPr dirty="0"/>
              <a:t>Cannot be achieved by wrapping </a:t>
            </a:r>
            <a:r>
              <a:rPr dirty="0" err="1"/>
              <a:t>PettingZoo</a:t>
            </a:r>
            <a:r>
              <a:rPr dirty="0"/>
              <a:t>. Timing is an experimental variable.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rPr dirty="0" err="1"/>
              <a:t>ProxyAgent</a:t>
            </a:r>
            <a:r>
              <a:rPr dirty="0"/>
              <a:t> for State Mediation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All state access through a single gatekeeper enforcing visibility rules.</a:t>
            </a:r>
            <a:br/>
            <a:r>
              <a:t>Prevents the common "global state leak" in MARL benchmarks.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rPr dirty="0" err="1"/>
              <a:t>FeatureProviders</a:t>
            </a:r>
            <a:r>
              <a:rPr dirty="0"/>
              <a:t> with 4-Level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20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Granular visibility (public/owner/</a:t>
            </a:r>
            <a:r>
              <a:rPr dirty="0" err="1"/>
              <a:t>upper_level</a:t>
            </a:r>
            <a:r>
              <a:rPr dirty="0"/>
              <a:t>/system) as first-class experimental variable.</a:t>
            </a:r>
            <a:br>
              <a:rPr dirty="0"/>
            </a:br>
            <a:r>
              <a:rPr dirty="0"/>
              <a:t>Not binary on/off — ablate over information structures.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343400"/>
            <a:ext cx="457200" cy="457200"/>
          </a:xfrm>
          <a:prstGeom prst="ellipse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51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CFF"/>
                </a:solidFill>
                <a:latin typeface="Calibri"/>
              </a:defRPr>
            </a:pPr>
            <a:r>
              <a:rPr dirty="0"/>
              <a:t>Channel-Isolated </a:t>
            </a:r>
            <a:r>
              <a:rPr dirty="0" err="1"/>
              <a:t>MessageBroker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097280" y="4572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Typed channels with environment isolation for parallel training.</a:t>
            </a:r>
            <a:br/>
            <a:r>
              <a:t>Explicit message-based communication matching CPS architectures.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5394960"/>
            <a:ext cx="457200" cy="45720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03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45"/>
                </a:solidFill>
                <a:latin typeface="Calibri"/>
              </a:defRPr>
            </a:pPr>
            <a:r>
              <a:rPr dirty="0"/>
              <a:t>Composable Protocol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23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CommunicationProtocol + ActionProtocol composition.</a:t>
            </a:r>
            <a:br/>
            <a:r>
              <a:t>Swap coordination mechanisms without changing agent 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Experiment Plan: 12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Cross-Domain Paired Experiments (must show consistent ordering)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#1-2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08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Visibility Ablation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system &gt; upper &gt; owner in both domains?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508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IEEE 34-bus / 5x5 grid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#3-4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03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Protocol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03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Vertical vs. horizontal ranking holds?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03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Setpoint vs. P2P / Fixed vs. Adaptive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51760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6974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#5-6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Timing Sensitivity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97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Sync-to-event gap varies by domain?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697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IEEE 2030 / NTCIP 1202 calibrated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46120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2918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#7-8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291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Algorithm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291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Visibility ordering algorithm-agnostic?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MAPPO / IPPO / QMIX / TarMAC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0233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Infrastructure Experiments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80560"/>
            <a:ext cx="11247120" cy="411480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5079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#9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5079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50799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10 to 2000 agents, log-log plots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11247120" cy="411480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5010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#10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010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Broker Overhead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501091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Abstraction cost &lt; 5% vs. direct calls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486400"/>
            <a:ext cx="11247120" cy="411480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55138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#12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5138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Framework Comparison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51383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PettingZoo + EPyMARL: LOC and feature gaps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Calibri"/>
              </a:defRPr>
            </a:pPr>
            <a:r>
              <a:t>Algorithms: MAPPO (policy gradient) | IPPO (independent) | QMIX (value decomposition) | TarMAC (learned comm)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Case Study: Power Grid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3-Level Power Grid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4389120" cy="9144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Calibri"/>
              </a:defRPr>
            </a:pPr>
            <a:r>
              <a:t>GridSystemAgent (L3)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Grid-level coordination</a:t>
            </a:r>
            <a:br/>
            <a:r>
              <a:t>Manages all microgrids</a:t>
            </a:r>
            <a:br/>
            <a:r>
              <a:t>tick: 300s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4389120" cy="9144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PowerGridAgent (L2)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Microgrid coordinator</a:t>
            </a:r>
            <a:br/>
            <a:r>
              <a:t>Manages DERs + loads</a:t>
            </a:r>
            <a:br/>
            <a:r>
              <a:t>tick: 60s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4389120" cy="9144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794759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DeviceAgent (L1)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79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Battery, Generator, ESS</a:t>
            </a:r>
            <a:br/>
            <a:r>
              <a:t>Local control + actuation</a:t>
            </a:r>
            <a:br/>
            <a:r>
              <a:t>tick: 1s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097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20 FeatureProviders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554480"/>
            <a:ext cx="6400800" cy="77724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0" y="1600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Calibri"/>
              </a:defRPr>
            </a:pPr>
            <a:r>
              <a:t>Device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60020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BatterySOC, GeneratorOutput, ESSCharge,</a:t>
            </a:r>
            <a:br/>
            <a:r>
              <a:t>SolarIrradiance, WindSpeed, TransformerLoad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2468880"/>
            <a:ext cx="6400800" cy="77724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0" y="2514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Grid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51460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BusVoltage, LineFlow, LineLoading,</a:t>
            </a:r>
            <a:br/>
            <a:r>
              <a:t>Frequency, PowerBalance, LossMetric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3383280"/>
            <a:ext cx="6400800" cy="77724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0" y="3429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CFF"/>
                </a:solidFill>
                <a:latin typeface="Calibri"/>
              </a:defRPr>
            </a:pPr>
            <a:r>
              <a:t>Market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42900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ElectricityPrice, DemandResponse,</a:t>
            </a:r>
            <a:br/>
            <a:r>
              <a:t>GridTariff, P2PTradeStatus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4297680"/>
            <a:ext cx="6400800" cy="77724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0" y="4343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Environmental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34340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WeatherCondition, LoadProfile,</a:t>
            </a:r>
            <a:br/>
            <a:r>
              <a:t>TimeOfDay, SeasonalPattern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2120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6 Test Networks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5577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IEEE 13-bus  |  IEEE 34-bus  |  IEEE 123-bus  |  CIGRE LV  |  Case34 3-phase  |  Case LVMG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Makes HERON Novel?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155448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Different Abstraction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PettingZoo</a:t>
            </a:r>
            <a:r>
              <a:rPr dirty="0"/>
              <a:t> standardizes the </a:t>
            </a:r>
            <a:r>
              <a:rPr dirty="0" err="1"/>
              <a:t>env↔algorithm</a:t>
            </a:r>
            <a:r>
              <a:rPr dirty="0"/>
              <a:t> INTERFACE.</a:t>
            </a:r>
            <a:br>
              <a:rPr dirty="0"/>
            </a:br>
            <a:r>
              <a:rPr dirty="0"/>
              <a:t>HERON standardizes what happens INSIDE the environment.</a:t>
            </a:r>
            <a:br>
              <a:rPr dirty="0"/>
            </a:br>
            <a:r>
              <a:rPr dirty="0"/>
              <a:t>Event-driven execution cannot be achieved by wrapping —</a:t>
            </a:r>
            <a:br>
              <a:rPr dirty="0"/>
            </a:br>
            <a:r>
              <a:rPr dirty="0"/>
              <a:t>it requires changing the fundamental step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11247120" cy="155448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Three Orthogonal Experimental Dimensions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rPr dirty="0"/>
              <a:t>1. Execution model: sync vs. event-driven (with CPS-calibrated timing)</a:t>
            </a:r>
            <a:br>
              <a:rPr dirty="0"/>
            </a:br>
            <a:r>
              <a:rPr dirty="0"/>
              <a:t>2. Information structure: 4-level feature visibility (</a:t>
            </a:r>
            <a:r>
              <a:rPr dirty="0" err="1"/>
              <a:t>ablatable</a:t>
            </a:r>
            <a:r>
              <a:rPr dirty="0"/>
              <a:t>)</a:t>
            </a:r>
            <a:br>
              <a:rPr dirty="0"/>
            </a:br>
            <a:r>
              <a:rPr dirty="0"/>
              <a:t>3. Coordination protocol: composable Communication + Action layers</a:t>
            </a:r>
            <a:br>
              <a:rPr dirty="0"/>
            </a:br>
            <a:r>
              <a:rPr dirty="0"/>
              <a:t>Each is independently configurable. No other framework offers this.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11247120" cy="155448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Calibri"/>
              </a:defRPr>
            </a:pPr>
            <a:r>
              <a:t>Explicit Non-Claims (Intellectual Honesty)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NOT "privacy-preserving" in the DP/cryptographic sense.</a:t>
            </a:r>
            <a:br/>
            <a:r>
              <a:t>We don't claim to "discover" findings — we provide infrastructure.</a:t>
            </a:r>
            <a:br/>
            <a:r>
              <a:t>We COMPLEMENT PettingZoo (different level), not replace it.</a:t>
            </a:r>
            <a:br/>
            <a:r>
              <a:t>HERON envs can export to PettingZoo's ParallelEnv API.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926080"/>
            <a:ext cx="3962095" cy="127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329184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800" dirty="0">
                <a:solidFill>
                  <a:srgbClr val="CCCCCC"/>
                </a:solidFill>
                <a:latin typeface="Calibri"/>
              </a:rPr>
              <a:t>How should we prioritize the traffic domain vs. deeper power experiments?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800" dirty="0">
                <a:solidFill>
                  <a:srgbClr val="CCCCCC"/>
                </a:solidFill>
                <a:latin typeface="Calibri"/>
              </a:rPr>
              <a:t>Which 4 algorithms should we commit to? (MAPPO, IPPO, QMIX, </a:t>
            </a:r>
            <a:r>
              <a:rPr sz="1800" dirty="0" err="1">
                <a:solidFill>
                  <a:srgbClr val="CCCCCC"/>
                </a:solidFill>
                <a:latin typeface="Calibri"/>
              </a:rPr>
              <a:t>TarMAC</a:t>
            </a:r>
            <a:r>
              <a:rPr sz="1800" dirty="0">
                <a:solidFill>
                  <a:srgbClr val="CCCCCC"/>
                </a:solidFill>
                <a:latin typeface="Calibri"/>
              </a:rPr>
              <a:t>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800" dirty="0">
                <a:solidFill>
                  <a:srgbClr val="CCCCCC"/>
                </a:solidFill>
                <a:latin typeface="Calibri"/>
              </a:rPr>
              <a:t>Stretch goal: Game domain appendix — is it worth the effort?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800" dirty="0">
                <a:solidFill>
                  <a:srgbClr val="CCCCCC"/>
                </a:solidFill>
                <a:latin typeface="Calibri"/>
              </a:rPr>
              <a:t>Timeline: 8 weeks to </a:t>
            </a:r>
            <a:r>
              <a:rPr sz="1800" dirty="0" err="1">
                <a:solidFill>
                  <a:srgbClr val="CCCCCC"/>
                </a:solidFill>
                <a:latin typeface="Calibri"/>
              </a:rPr>
              <a:t>NeurIPS</a:t>
            </a:r>
            <a:r>
              <a:rPr sz="1800" dirty="0">
                <a:solidFill>
                  <a:srgbClr val="CCCCCC"/>
                </a:solidFill>
                <a:latin typeface="Calibri"/>
              </a:rPr>
              <a:t> deadline — are we on track?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NeurIPS 2026 Datasets &amp; Benchmarks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2266</Words>
  <Application>Microsoft Macintosh PowerPoint</Application>
  <PresentationFormat>Widescreen</PresentationFormat>
  <Paragraphs>345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Zhenlin Wang</cp:lastModifiedBy>
  <cp:revision>4</cp:revision>
  <dcterms:created xsi:type="dcterms:W3CDTF">2013-01-27T09:14:16Z</dcterms:created>
  <dcterms:modified xsi:type="dcterms:W3CDTF">2026-02-18T02:51:33Z</dcterms:modified>
  <cp:category/>
</cp:coreProperties>
</file>